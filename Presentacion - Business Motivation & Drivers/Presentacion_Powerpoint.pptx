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57" r:id="rId4"/>
    <p:sldId id="258" r:id="rId5"/>
    <p:sldId id="263" r:id="rId6"/>
    <p:sldId id="265" r:id="rId7"/>
    <p:sldId id="266" r:id="rId8"/>
    <p:sldId id="264" r:id="rId9"/>
    <p:sldId id="267" r:id="rId10"/>
    <p:sldId id="269" r:id="rId11"/>
    <p:sldId id="268" r:id="rId12"/>
    <p:sldId id="260" r:id="rId13"/>
    <p:sldId id="262" r:id="rId14"/>
    <p:sldId id="26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 snapToObjects="1">
      <p:cViewPr>
        <p:scale>
          <a:sx n="77" d="100"/>
          <a:sy n="77" d="100"/>
        </p:scale>
        <p:origin x="883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338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BFC44-A7CC-BCA6-94B0-7BFAA7EE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89A01-DD98-81D6-631B-E47C935197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1794E-FE91-6E3F-B2CF-F7A2FD533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26457-C8B3-EC83-4466-77391F500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97001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A6537-45A3-12C9-7B21-B8118216E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8C088-9587-21F3-4F00-6E98D2360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31734-1DEF-9C0F-352D-BBFA16A756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2BCBF-5F62-E060-2C32-8D1326910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4065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D2117-04A5-F11E-CAD1-5E92E5BA3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0EBD2-9920-0F5D-3D99-0E778335DC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2FD94-C5E7-4EFD-E1C3-2848CD2FA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3F3EF-80E5-942C-1C22-EC752EE4F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79173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878DF-18E2-567B-F60B-3D7FB655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D0557-CA53-2F83-8F69-FB7065114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1220C-EA14-02D6-4855-F9CCD20F6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EB9EB-E02B-989D-AE93-1FCC6ED10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69411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923F8-FEEA-DEF9-7868-0776CBDB1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0D6EA6-91F6-8908-33CC-92DA60229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9CB6A-8D7B-D942-9B4F-A2FEFBF5E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91084-FA0B-3808-7751-78C6A169A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1701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52C6B-AF86-081C-1944-68E50A7D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BC2E1-0B23-60CC-0452-0E963BE515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4E2F2-7C8B-B901-0B71-8F612EC7E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82C0C-F408-9FED-7B02-3971A85F2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38073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95F40-038E-5FD8-A16B-A46D56D2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E7697-841C-F7C7-B14A-D35E141B35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D844E-5D77-75D5-6885-EB829651C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6681A-F585-3A80-4363-5D0A801C4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89971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abrielJaramilloCuberos/Procesamiento-de-Datos/tree/main/Presentacion%20-%20Business%20Motivation%20%26%20Driver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42165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lang="es-CO" sz="4400" b="1" i="0" noProof="0" dirty="0">
                <a:solidFill>
                  <a:srgbClr val="FFFFFF"/>
                </a:solidFill>
                <a:latin typeface="Georgia"/>
              </a:rPr>
              <a:t>Business </a:t>
            </a:r>
            <a:r>
              <a:rPr lang="es-CO" sz="4400" b="1" i="0" noProof="0" dirty="0" err="1">
                <a:solidFill>
                  <a:srgbClr val="FFFFFF"/>
                </a:solidFill>
                <a:latin typeface="Georgia"/>
              </a:rPr>
              <a:t>Motivation</a:t>
            </a:r>
            <a:r>
              <a:rPr lang="es-CO" sz="4400" b="1" i="0" noProof="0" dirty="0">
                <a:solidFill>
                  <a:srgbClr val="FFFFFF"/>
                </a:solidFill>
                <a:latin typeface="Georgia"/>
              </a:rPr>
              <a:t> &amp; Drivers</a:t>
            </a:r>
          </a:p>
          <a:p>
            <a:pPr>
              <a:spcAft>
                <a:spcPts val="3600"/>
              </a:spcAft>
            </a:pPr>
            <a:r>
              <a:rPr lang="es-CO" sz="2000" b="0" i="0" noProof="0" dirty="0">
                <a:solidFill>
                  <a:srgbClr val="78909C"/>
                </a:solidFill>
                <a:latin typeface="Calibri"/>
              </a:rPr>
              <a:t>Factores Impulsores de Negocio bajo la Metodología CRISP-DM y Big Data</a:t>
            </a:r>
          </a:p>
          <a:p>
            <a:pPr>
              <a:spcAft>
                <a:spcPts val="3600"/>
              </a:spcAft>
            </a:pPr>
            <a:endParaRPr lang="es-CO" sz="2000" noProof="0" dirty="0">
              <a:solidFill>
                <a:srgbClr val="78909C"/>
              </a:solidFill>
              <a:latin typeface="Calibri"/>
            </a:endParaRPr>
          </a:p>
          <a:p>
            <a:pPr>
              <a:spcAft>
                <a:spcPts val="3600"/>
              </a:spcAft>
            </a:pPr>
            <a:endParaRPr lang="es-CO" sz="2000" noProof="0" dirty="0">
              <a:solidFill>
                <a:srgbClr val="78909C"/>
              </a:solidFill>
              <a:latin typeface="Calibri"/>
            </a:endParaRPr>
          </a:p>
          <a:p>
            <a:pPr>
              <a:spcAft>
                <a:spcPts val="3600"/>
              </a:spcAft>
            </a:pPr>
            <a:endParaRPr lang="es-CO" sz="2000" noProof="0" dirty="0">
              <a:solidFill>
                <a:srgbClr val="78909C"/>
              </a:solidFill>
              <a:latin typeface="Calibri"/>
            </a:endParaRPr>
          </a:p>
          <a:p>
            <a:pPr>
              <a:spcAft>
                <a:spcPts val="3600"/>
              </a:spcAft>
            </a:pPr>
            <a:r>
              <a:rPr lang="es-CO" sz="2000" b="0" i="0" noProof="0" dirty="0">
                <a:solidFill>
                  <a:srgbClr val="78909C"/>
                </a:solidFill>
                <a:latin typeface="Calibri"/>
              </a:rPr>
              <a:t>Presentado por: Gabriel Jaramillo, Samuel Beltrán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1000" b="1" i="0" noProof="0" dirty="0">
                <a:solidFill>
                  <a:srgbClr val="78909C"/>
                </a:solidFill>
                <a:latin typeface="Calibri"/>
              </a:rPr>
              <a:t>BUSINESS MOTIVATION &amp;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0990"/>
            <a:ext cx="1082009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2800" b="1" i="0" noProof="0" dirty="0">
                <a:solidFill>
                  <a:srgbClr val="212121"/>
                </a:solidFill>
                <a:latin typeface="Georgia"/>
              </a:rPr>
              <a:t>Madurez analítica – Motivadores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1600200" y="1812684"/>
            <a:ext cx="3423513" cy="16163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000"/>
              </a:spcAft>
            </a:pPr>
            <a:r>
              <a:rPr lang="es-CO" sz="1400" b="1" i="0" noProof="0" dirty="0">
                <a:solidFill>
                  <a:srgbClr val="212121"/>
                </a:solidFill>
                <a:latin typeface="Georgia"/>
              </a:rPr>
              <a:t>Analítica descriptiva</a:t>
            </a:r>
          </a:p>
          <a:p>
            <a:pPr algn="l">
              <a:spcAft>
                <a:spcPts val="1000"/>
              </a:spcAft>
            </a:pPr>
            <a:r>
              <a:rPr lang="es-CO" sz="1200" b="0" i="0" noProof="0" dirty="0">
                <a:solidFill>
                  <a:srgbClr val="212121"/>
                </a:solidFill>
                <a:latin typeface="Calibri"/>
              </a:rPr>
              <a:t>¿Qué ocurre?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1DBB98AD-FAB7-7C85-E8C3-67CBFB685CF1}"/>
              </a:ext>
            </a:extLst>
          </p:cNvPr>
          <p:cNvSpPr/>
          <p:nvPr/>
        </p:nvSpPr>
        <p:spPr>
          <a:xfrm>
            <a:off x="7168289" y="1812684"/>
            <a:ext cx="3423513" cy="16163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000"/>
              </a:spcAft>
            </a:pPr>
            <a:r>
              <a:rPr lang="es-CO" sz="1400" b="1" dirty="0">
                <a:solidFill>
                  <a:srgbClr val="212121"/>
                </a:solidFill>
                <a:latin typeface="Georgia"/>
              </a:rPr>
              <a:t>Analítica de diagnóstico</a:t>
            </a:r>
            <a:endParaRPr lang="es-CO" sz="1400" b="1" i="0" noProof="0" dirty="0">
              <a:solidFill>
                <a:srgbClr val="212121"/>
              </a:solidFill>
              <a:latin typeface="Georgia"/>
            </a:endParaRPr>
          </a:p>
          <a:p>
            <a:pPr algn="l">
              <a:spcAft>
                <a:spcPts val="1000"/>
              </a:spcAft>
            </a:pPr>
            <a:r>
              <a:rPr lang="es-CO" sz="1200" b="0" i="0" noProof="0" dirty="0">
                <a:solidFill>
                  <a:srgbClr val="212121"/>
                </a:solidFill>
                <a:latin typeface="Calibri"/>
              </a:rPr>
              <a:t>¿Por qué ocurre?</a:t>
            </a:r>
          </a:p>
          <a:p>
            <a:pPr algn="l"/>
            <a:r>
              <a:rPr lang="es-CO" sz="1100" b="0" i="1" noProof="0" dirty="0">
                <a:solidFill>
                  <a:srgbClr val="78909C"/>
                </a:solidFill>
                <a:latin typeface="Calibri"/>
              </a:rPr>
              <a:t>Inversión inicial mitigada por alta efectividad.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6BB4DA06-45B5-CD9F-DDFD-385E484C3E97}"/>
              </a:ext>
            </a:extLst>
          </p:cNvPr>
          <p:cNvSpPr/>
          <p:nvPr/>
        </p:nvSpPr>
        <p:spPr>
          <a:xfrm>
            <a:off x="1600200" y="4470694"/>
            <a:ext cx="3423513" cy="16163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000"/>
              </a:spcAft>
            </a:pPr>
            <a:r>
              <a:rPr lang="es-CO" sz="1400" b="1" i="0" noProof="0" dirty="0">
                <a:solidFill>
                  <a:srgbClr val="212121"/>
                </a:solidFill>
                <a:latin typeface="Georgia"/>
              </a:rPr>
              <a:t>Analítica prescriptiva</a:t>
            </a:r>
          </a:p>
          <a:p>
            <a:pPr algn="l">
              <a:spcAft>
                <a:spcPts val="1000"/>
              </a:spcAft>
            </a:pPr>
            <a:r>
              <a:rPr lang="es-CO" sz="1200" b="0" i="0" noProof="0" dirty="0">
                <a:solidFill>
                  <a:srgbClr val="212121"/>
                </a:solidFill>
                <a:latin typeface="Calibri"/>
              </a:rPr>
              <a:t>¿Cómo hacemos que algo pase? 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CE6E5B8A-0A5B-4E68-355B-77B8A39A3167}"/>
              </a:ext>
            </a:extLst>
          </p:cNvPr>
          <p:cNvSpPr/>
          <p:nvPr/>
        </p:nvSpPr>
        <p:spPr>
          <a:xfrm>
            <a:off x="7168289" y="4470694"/>
            <a:ext cx="3423513" cy="16163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000"/>
              </a:spcAft>
            </a:pPr>
            <a:r>
              <a:rPr lang="es-CO" sz="1400" b="1" i="0" noProof="0" dirty="0">
                <a:solidFill>
                  <a:srgbClr val="212121"/>
                </a:solidFill>
                <a:latin typeface="Georgia"/>
              </a:rPr>
              <a:t>Analítica de predicción</a:t>
            </a:r>
          </a:p>
          <a:p>
            <a:pPr algn="l">
              <a:spcAft>
                <a:spcPts val="1000"/>
              </a:spcAft>
            </a:pPr>
            <a:r>
              <a:rPr lang="es-CO" sz="1200" dirty="0">
                <a:solidFill>
                  <a:srgbClr val="212121"/>
                </a:solidFill>
                <a:latin typeface="Calibri"/>
              </a:rPr>
              <a:t>¿Qué puede ocurrir?</a:t>
            </a:r>
            <a:endParaRPr lang="es-CO" sz="1200" b="0" i="0" noProof="0" dirty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DD7E7F9-72EE-6474-2E05-A337305810DB}"/>
              </a:ext>
            </a:extLst>
          </p:cNvPr>
          <p:cNvSpPr/>
          <p:nvPr/>
        </p:nvSpPr>
        <p:spPr>
          <a:xfrm>
            <a:off x="5234152" y="2270234"/>
            <a:ext cx="1797269" cy="65777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449DBFC-62C0-7DAA-99E4-D5D4E676E169}"/>
              </a:ext>
            </a:extLst>
          </p:cNvPr>
          <p:cNvSpPr/>
          <p:nvPr/>
        </p:nvSpPr>
        <p:spPr>
          <a:xfrm rot="5400000">
            <a:off x="8438172" y="3582949"/>
            <a:ext cx="883744" cy="73379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F8ECFA0-1697-E564-E1AD-5AF5A8D09824}"/>
              </a:ext>
            </a:extLst>
          </p:cNvPr>
          <p:cNvSpPr/>
          <p:nvPr/>
        </p:nvSpPr>
        <p:spPr>
          <a:xfrm rot="10800000">
            <a:off x="5234151" y="4949965"/>
            <a:ext cx="1797269" cy="65777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1000" b="1" i="0" noProof="0" dirty="0">
                <a:solidFill>
                  <a:srgbClr val="78909C"/>
                </a:solidFill>
                <a:latin typeface="Calibri"/>
              </a:rPr>
              <a:t>BUSINESS MOTIVATION &amp;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8686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2800" b="1" i="0" noProof="0" dirty="0">
                <a:solidFill>
                  <a:srgbClr val="212121"/>
                </a:solidFill>
                <a:latin typeface="Georgia"/>
              </a:rPr>
              <a:t>La Comprensión del Negocio es el Primer Paso de CRISP-DM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98018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lang="es-CO" sz="2000" b="1" i="0" noProof="0" dirty="0">
                <a:solidFill>
                  <a:srgbClr val="D35400"/>
                </a:solidFill>
                <a:latin typeface="Georgia"/>
              </a:rPr>
              <a:t>El Enfoque de la Fase 1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6" y="2275094"/>
            <a:ext cx="5287974" cy="98328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>
              <a:spcAft>
                <a:spcPts val="600"/>
              </a:spcAft>
            </a:pPr>
            <a:r>
              <a:rPr lang="es-CO" sz="1600" b="1" i="0" noProof="0" dirty="0">
                <a:solidFill>
                  <a:srgbClr val="212121"/>
                </a:solidFill>
                <a:latin typeface="Georgia"/>
              </a:rPr>
              <a:t>1. Entendimiento del negocio</a:t>
            </a:r>
          </a:p>
          <a:p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Identificar los factores que impulsan el valor del negocio, tales como aumentar ingresos, reducir costos o mitigar riesgos de fraude.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5562" y="2275094"/>
            <a:ext cx="528797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>
              <a:spcAft>
                <a:spcPts val="600"/>
              </a:spcAft>
            </a:pPr>
            <a:r>
              <a:rPr lang="es-CO" sz="1600" b="1" i="0" noProof="0" dirty="0">
                <a:solidFill>
                  <a:srgbClr val="212121"/>
                </a:solidFill>
                <a:latin typeface="Georgia"/>
              </a:rPr>
              <a:t>2. Comprensión de datos</a:t>
            </a:r>
          </a:p>
          <a:p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Realizar un</a:t>
            </a:r>
            <a:r>
              <a:rPr lang="es-CO" sz="1200" noProof="0" dirty="0">
                <a:solidFill>
                  <a:srgbClr val="757575"/>
                </a:solidFill>
                <a:latin typeface="Calibri"/>
              </a:rPr>
              <a:t>a auditoría </a:t>
            </a:r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de recursos, restricciones técnicas, riesgos operativos, costos del proyecto y beneficios estimados.</a:t>
            </a: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88118FE1-36C3-3169-EC6B-4DC889BCD55C}"/>
              </a:ext>
            </a:extLst>
          </p:cNvPr>
          <p:cNvSpPr/>
          <p:nvPr/>
        </p:nvSpPr>
        <p:spPr>
          <a:xfrm>
            <a:off x="518466" y="3579780"/>
            <a:ext cx="5287974" cy="98328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>
              <a:spcAft>
                <a:spcPts val="600"/>
              </a:spcAft>
            </a:pPr>
            <a:r>
              <a:rPr lang="es-CO" sz="1600" b="1" noProof="0" dirty="0">
                <a:solidFill>
                  <a:srgbClr val="212121"/>
                </a:solidFill>
                <a:latin typeface="Georgia"/>
              </a:rPr>
              <a:t>3. Preparación de datos</a:t>
            </a:r>
            <a:endParaRPr lang="es-CO" sz="1600" b="1" i="0" noProof="0" dirty="0">
              <a:solidFill>
                <a:srgbClr val="212121"/>
              </a:solidFill>
              <a:latin typeface="Georgia"/>
            </a:endParaRPr>
          </a:p>
          <a:p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Procesar los datos para encontrar patrones, establecer indicadores y generar conocimiento.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A166EC52-688D-878C-D51D-B7401CFDC5AF}"/>
              </a:ext>
            </a:extLst>
          </p:cNvPr>
          <p:cNvSpPr/>
          <p:nvPr/>
        </p:nvSpPr>
        <p:spPr>
          <a:xfrm>
            <a:off x="6385560" y="3579780"/>
            <a:ext cx="5287974" cy="98328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>
              <a:spcAft>
                <a:spcPts val="600"/>
              </a:spcAft>
            </a:pPr>
            <a:r>
              <a:rPr lang="es-CO" sz="1600" b="1" i="0" noProof="0" dirty="0">
                <a:solidFill>
                  <a:srgbClr val="212121"/>
                </a:solidFill>
                <a:latin typeface="Georgia"/>
              </a:rPr>
              <a:t>4. Modelización</a:t>
            </a:r>
          </a:p>
          <a:p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Usar el conocimiento para crear modelos que ayuden a predecir el comportamiento de un negocio.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987AAE-F360-C152-428E-AE019AE5AD93}"/>
              </a:ext>
            </a:extLst>
          </p:cNvPr>
          <p:cNvSpPr txBox="1"/>
          <p:nvPr/>
        </p:nvSpPr>
        <p:spPr>
          <a:xfrm>
            <a:off x="4153808" y="1574997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400"/>
              </a:spcAft>
            </a:pPr>
            <a:r>
              <a:rPr lang="es-CO" sz="1200" b="0" i="0" noProof="0" dirty="0">
                <a:solidFill>
                  <a:srgbClr val="212121"/>
                </a:solidFill>
                <a:latin typeface="Calibri"/>
              </a:rPr>
              <a:t>La metodología CRISP-DM (Cross </a:t>
            </a:r>
            <a:r>
              <a:rPr lang="es-CO" sz="1200" b="0" i="0" noProof="0" dirty="0" err="1">
                <a:solidFill>
                  <a:srgbClr val="212121"/>
                </a:solidFill>
                <a:latin typeface="Calibri"/>
              </a:rPr>
              <a:t>Industry</a:t>
            </a:r>
            <a:r>
              <a:rPr lang="es-CO" sz="1200" b="0" i="0" noProof="0" dirty="0">
                <a:solidFill>
                  <a:srgbClr val="212121"/>
                </a:solidFill>
                <a:latin typeface="Calibri"/>
              </a:rPr>
              <a:t> Standard Process </a:t>
            </a:r>
            <a:r>
              <a:rPr lang="es-CO" sz="1200" b="0" i="0" noProof="0" dirty="0" err="1">
                <a:solidFill>
                  <a:srgbClr val="212121"/>
                </a:solidFill>
                <a:latin typeface="Calibri"/>
              </a:rPr>
              <a:t>for</a:t>
            </a:r>
            <a:r>
              <a:rPr lang="es-CO" sz="1200" b="0" i="0" noProof="0" dirty="0">
                <a:solidFill>
                  <a:srgbClr val="212121"/>
                </a:solidFill>
                <a:latin typeface="Calibri"/>
              </a:rPr>
              <a:t> Data </a:t>
            </a:r>
            <a:r>
              <a:rPr lang="es-CO" sz="1200" b="0" i="0" noProof="0" dirty="0" err="1">
                <a:solidFill>
                  <a:srgbClr val="212121"/>
                </a:solidFill>
                <a:latin typeface="Calibri"/>
              </a:rPr>
              <a:t>Mining</a:t>
            </a:r>
            <a:r>
              <a:rPr lang="es-CO" sz="1200" b="0" i="0" noProof="0" dirty="0">
                <a:solidFill>
                  <a:srgbClr val="212121"/>
                </a:solidFill>
                <a:latin typeface="Calibri"/>
              </a:rPr>
              <a:t>) sitúa la comprensión del negocio como el núcleo central que guía todo el ciclo de vida de un Proyecto.</a:t>
            </a:r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1C256B2D-562E-2DBF-BD73-853009AACD4D}"/>
              </a:ext>
            </a:extLst>
          </p:cNvPr>
          <p:cNvSpPr/>
          <p:nvPr/>
        </p:nvSpPr>
        <p:spPr>
          <a:xfrm>
            <a:off x="518469" y="4953355"/>
            <a:ext cx="5287974" cy="98328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>
              <a:spcAft>
                <a:spcPts val="600"/>
              </a:spcAft>
            </a:pPr>
            <a:r>
              <a:rPr lang="es-CO" sz="1600" b="1" noProof="0" dirty="0">
                <a:solidFill>
                  <a:srgbClr val="212121"/>
                </a:solidFill>
                <a:latin typeface="Georgia"/>
              </a:rPr>
              <a:t>5. Evaluación</a:t>
            </a:r>
            <a:endParaRPr lang="es-CO" sz="1600" b="1" i="0" noProof="0" dirty="0">
              <a:solidFill>
                <a:srgbClr val="212121"/>
              </a:solidFill>
              <a:latin typeface="Georgia"/>
            </a:endParaRPr>
          </a:p>
          <a:p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Identificar el modelo mas apto a las demandas.</a:t>
            </a:r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D5C2B887-ABBE-AEC9-3023-4AFED0E3239A}"/>
              </a:ext>
            </a:extLst>
          </p:cNvPr>
          <p:cNvSpPr/>
          <p:nvPr/>
        </p:nvSpPr>
        <p:spPr>
          <a:xfrm>
            <a:off x="6385563" y="4953355"/>
            <a:ext cx="5287974" cy="98328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>
              <a:spcAft>
                <a:spcPts val="600"/>
              </a:spcAft>
            </a:pPr>
            <a:r>
              <a:rPr lang="es-CO" sz="1600" b="1" i="0" noProof="0" dirty="0">
                <a:solidFill>
                  <a:srgbClr val="212121"/>
                </a:solidFill>
                <a:latin typeface="Georgia"/>
              </a:rPr>
              <a:t>6. Implantación</a:t>
            </a:r>
          </a:p>
          <a:p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Forma en la que las partes implicadas acceden a los resultados.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1000" b="1" i="0" noProof="0" dirty="0">
                <a:solidFill>
                  <a:srgbClr val="78909C"/>
                </a:solidFill>
                <a:latin typeface="Calibri"/>
              </a:rPr>
              <a:t>BUSINESS MOTIVATION &amp;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2800" b="1" i="0" noProof="0" dirty="0">
                <a:solidFill>
                  <a:srgbClr val="212121"/>
                </a:solidFill>
                <a:latin typeface="Georgia"/>
              </a:rPr>
              <a:t>Las V’s de los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1352397" y="1645920"/>
            <a:ext cx="447675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100"/>
              </a:spcAft>
            </a:pPr>
            <a:r>
              <a:rPr lang="es-CO" sz="1300" b="1" i="0" noProof="0" dirty="0">
                <a:solidFill>
                  <a:srgbClr val="D35400"/>
                </a:solidFill>
                <a:latin typeface="Georgia"/>
              </a:rPr>
              <a:t>Volumen</a:t>
            </a:r>
          </a:p>
          <a:p>
            <a:pPr algn="l"/>
            <a:r>
              <a:rPr lang="es-CO" sz="1100" b="0" i="0" noProof="0" dirty="0">
                <a:solidFill>
                  <a:srgbClr val="212121"/>
                </a:solidFill>
                <a:latin typeface="Calibri"/>
              </a:rPr>
              <a:t>Cantidad de datos generada en un periodo de tiempo.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52397" y="2743200"/>
            <a:ext cx="447675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100"/>
              </a:spcAft>
            </a:pPr>
            <a:r>
              <a:rPr lang="es-CO" sz="1300" b="1" i="0" noProof="0" dirty="0">
                <a:solidFill>
                  <a:srgbClr val="212121"/>
                </a:solidFill>
                <a:latin typeface="Georgia"/>
              </a:rPr>
              <a:t>Velocidad</a:t>
            </a:r>
          </a:p>
          <a:p>
            <a:pPr algn="l"/>
            <a:r>
              <a:rPr lang="es-CO" sz="1100" b="0" i="0" noProof="0" dirty="0">
                <a:solidFill>
                  <a:srgbClr val="212121"/>
                </a:solidFill>
                <a:latin typeface="Calibri"/>
              </a:rPr>
              <a:t>Rapidez con la que los datos son creados, almacenados y procesados en tiempo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2397" y="3840480"/>
            <a:ext cx="447675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100"/>
              </a:spcAft>
            </a:pPr>
            <a:r>
              <a:rPr lang="es-CO" sz="1300" b="1" i="0" noProof="0" dirty="0">
                <a:solidFill>
                  <a:srgbClr val="78909C"/>
                </a:solidFill>
                <a:latin typeface="Georgia"/>
              </a:rPr>
              <a:t>Variedad</a:t>
            </a:r>
          </a:p>
          <a:p>
            <a:pPr algn="l"/>
            <a:r>
              <a:rPr lang="es-CO" sz="1100" b="0" i="0" noProof="0" dirty="0">
                <a:solidFill>
                  <a:srgbClr val="212121"/>
                </a:solidFill>
                <a:latin typeface="Calibri"/>
              </a:rPr>
              <a:t>Formas, tipos y fuentes en las que se registran los datos.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2397" y="4937759"/>
            <a:ext cx="948689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100"/>
              </a:spcAft>
            </a:pPr>
            <a:r>
              <a:rPr lang="es-CO" sz="1300" b="1" i="0" noProof="0" dirty="0">
                <a:solidFill>
                  <a:srgbClr val="757575"/>
                </a:solidFill>
                <a:latin typeface="Georgia"/>
              </a:rPr>
              <a:t>Valor</a:t>
            </a:r>
          </a:p>
          <a:p>
            <a:pPr algn="l"/>
            <a:r>
              <a:rPr lang="es-CO" sz="1100" b="0" i="0" noProof="0" dirty="0">
                <a:solidFill>
                  <a:srgbClr val="212121"/>
                </a:solidFill>
                <a:latin typeface="Calibri"/>
              </a:rPr>
              <a:t>Datos que se transforman en información, conocimiento y decisión.</a:t>
            </a: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BD98E4FB-04B7-B7BB-3614-F768973CABE4}"/>
              </a:ext>
            </a:extLst>
          </p:cNvPr>
          <p:cNvSpPr/>
          <p:nvPr/>
        </p:nvSpPr>
        <p:spPr>
          <a:xfrm>
            <a:off x="6362546" y="1645920"/>
            <a:ext cx="447675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100"/>
              </a:spcAft>
            </a:pPr>
            <a:r>
              <a:rPr lang="es-CO" sz="1300" b="1" i="0" noProof="0" dirty="0">
                <a:solidFill>
                  <a:srgbClr val="D35400"/>
                </a:solidFill>
                <a:latin typeface="Georgia"/>
              </a:rPr>
              <a:t>Veracidad</a:t>
            </a:r>
          </a:p>
          <a:p>
            <a:pPr algn="l"/>
            <a:r>
              <a:rPr lang="es-CO" sz="1100" b="0" i="0" noProof="0" dirty="0">
                <a:solidFill>
                  <a:srgbClr val="212121"/>
                </a:solidFill>
                <a:latin typeface="Calibri"/>
              </a:rPr>
              <a:t>Grado de fiabilidad de la información recopilada.</a:t>
            </a:r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ABB4B7C9-6838-5E45-8E72-5C6CE068006C}"/>
              </a:ext>
            </a:extLst>
          </p:cNvPr>
          <p:cNvSpPr/>
          <p:nvPr/>
        </p:nvSpPr>
        <p:spPr>
          <a:xfrm>
            <a:off x="6362546" y="2743200"/>
            <a:ext cx="447675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100"/>
              </a:spcAft>
            </a:pPr>
            <a:r>
              <a:rPr lang="es-CO" sz="1300" b="1" i="0" noProof="0" dirty="0">
                <a:solidFill>
                  <a:srgbClr val="212121"/>
                </a:solidFill>
                <a:latin typeface="Georgia"/>
              </a:rPr>
              <a:t>Viabilidad</a:t>
            </a:r>
          </a:p>
          <a:p>
            <a:pPr algn="l"/>
            <a:r>
              <a:rPr lang="es-CO" sz="1100" b="0" i="0" noProof="0" dirty="0">
                <a:solidFill>
                  <a:srgbClr val="212121"/>
                </a:solidFill>
                <a:latin typeface="Calibri"/>
              </a:rPr>
              <a:t>Inteligencia empresarial para el éxito de un proyecto.</a:t>
            </a: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450D4909-3874-EC44-9632-ADF234489BB5}"/>
              </a:ext>
            </a:extLst>
          </p:cNvPr>
          <p:cNvSpPr/>
          <p:nvPr/>
        </p:nvSpPr>
        <p:spPr>
          <a:xfrm>
            <a:off x="6362546" y="3840480"/>
            <a:ext cx="447675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100"/>
              </a:spcAft>
            </a:pPr>
            <a:r>
              <a:rPr lang="es-CO" sz="1300" b="1" i="0" noProof="0" dirty="0">
                <a:solidFill>
                  <a:srgbClr val="78909C"/>
                </a:solidFill>
                <a:latin typeface="Georgia"/>
              </a:rPr>
              <a:t>Visualización</a:t>
            </a:r>
          </a:p>
          <a:p>
            <a:pPr algn="l"/>
            <a:r>
              <a:rPr lang="es-CO" sz="1100" b="0" i="0" noProof="0" dirty="0">
                <a:solidFill>
                  <a:srgbClr val="212121"/>
                </a:solidFill>
                <a:latin typeface="Calibri"/>
              </a:rPr>
              <a:t>Forma en la que los datos son representados.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FB849-F2F0-5CD8-B475-753C9E2F4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2A57E-C5DE-383D-E877-0673894AD94B}"/>
              </a:ext>
            </a:extLst>
          </p:cNvPr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1000" b="1" i="0" noProof="0" dirty="0">
                <a:solidFill>
                  <a:srgbClr val="78909C"/>
                </a:solidFill>
                <a:latin typeface="Calibri"/>
              </a:rPr>
              <a:t>BUSINESS MOTIVATION &amp; DRIVERS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55A4A-3D62-56F8-6253-A6C439EA3B41}"/>
              </a:ext>
            </a:extLst>
          </p:cNvPr>
          <p:cNvSpPr txBox="1"/>
          <p:nvPr/>
        </p:nvSpPr>
        <p:spPr>
          <a:xfrm>
            <a:off x="685800" y="769739"/>
            <a:ext cx="1082009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2800" b="1" noProof="0" dirty="0">
                <a:solidFill>
                  <a:srgbClr val="212121"/>
                </a:solidFill>
                <a:latin typeface="Georgia"/>
              </a:rPr>
              <a:t>Pirámide de Ackoff</a:t>
            </a:r>
            <a:endParaRPr lang="es-CO" sz="2800" b="1" i="0" noProof="0" dirty="0">
              <a:solidFill>
                <a:srgbClr val="212121"/>
              </a:solidFill>
              <a:latin typeface="Georg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935423-0B83-ACC9-4F1F-1D1798BFD95D}"/>
              </a:ext>
            </a:extLst>
          </p:cNvPr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5" name="Picture 4" descr="La importancia de los datos: cómo usarlos con sentido común">
            <a:extLst>
              <a:ext uri="{FF2B5EF4-FFF2-40B4-BE49-F238E27FC236}">
                <a16:creationId xmlns:a16="http://schemas.microsoft.com/office/drawing/2014/main" id="{0AB0F175-0EA1-D6F7-A072-41A4C400B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915" y="1491095"/>
            <a:ext cx="725270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54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7CDCC-B795-BC2D-FE94-A0DAC331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E1A041-71B6-0756-BBED-5A28BB43DA4A}"/>
              </a:ext>
            </a:extLst>
          </p:cNvPr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1000" b="1" i="0" noProof="0" dirty="0">
                <a:solidFill>
                  <a:srgbClr val="78909C"/>
                </a:solidFill>
                <a:latin typeface="Calibri"/>
              </a:rPr>
              <a:t>BUSINESS MOTIVATION &amp; DRIVERS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65CE2-9F04-18E9-68CA-D87CB5008090}"/>
              </a:ext>
            </a:extLst>
          </p:cNvPr>
          <p:cNvSpPr txBox="1"/>
          <p:nvPr/>
        </p:nvSpPr>
        <p:spPr>
          <a:xfrm>
            <a:off x="685800" y="769739"/>
            <a:ext cx="1082009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2800" b="1" noProof="0" dirty="0">
                <a:solidFill>
                  <a:srgbClr val="212121"/>
                </a:solidFill>
                <a:latin typeface="Georgia"/>
              </a:rPr>
              <a:t>Drivers</a:t>
            </a:r>
            <a:endParaRPr lang="es-CO" sz="2800" b="1" i="0" noProof="0" dirty="0">
              <a:solidFill>
                <a:srgbClr val="212121"/>
              </a:solidFill>
              <a:latin typeface="Georg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5263D1-C4D0-65B2-8FB5-C8DA191A679E}"/>
              </a:ext>
            </a:extLst>
          </p:cNvPr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FE9BB0-7827-60E6-AAD7-A3045AC1B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811" y="1872693"/>
            <a:ext cx="9434378" cy="39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9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AB01F-C5EF-02BE-3B21-6DDA70670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FC6033-16E6-D55B-F2F0-7AB5C73A2053}"/>
              </a:ext>
            </a:extLst>
          </p:cNvPr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1000" b="1" i="0" noProof="0" dirty="0">
                <a:solidFill>
                  <a:srgbClr val="78909C"/>
                </a:solidFill>
                <a:latin typeface="Calibri"/>
              </a:rPr>
              <a:t>BUSINESS MOTIVATION &amp; DRIVERS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0D7878-E591-EC03-4AD2-7EC97FBA0E73}"/>
              </a:ext>
            </a:extLst>
          </p:cNvPr>
          <p:cNvSpPr txBox="1"/>
          <p:nvPr/>
        </p:nvSpPr>
        <p:spPr>
          <a:xfrm>
            <a:off x="685800" y="769739"/>
            <a:ext cx="1082009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2800" b="1" noProof="0" dirty="0">
                <a:solidFill>
                  <a:srgbClr val="212121"/>
                </a:solidFill>
                <a:latin typeface="Georgia"/>
              </a:rPr>
              <a:t>Drivers</a:t>
            </a:r>
            <a:endParaRPr lang="es-CO" sz="2800" b="1" i="0" noProof="0" dirty="0">
              <a:solidFill>
                <a:srgbClr val="212121"/>
              </a:solidFill>
              <a:latin typeface="Georg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71FFAC-7459-D331-AEE4-20C7C5E363B7}"/>
              </a:ext>
            </a:extLst>
          </p:cNvPr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CC6988-10DF-70E1-085A-0F902978B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405" y="1567974"/>
            <a:ext cx="7703189" cy="498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8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76E625-0EF1-5CFF-D89E-E4D198FCE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DC12AE-DCA3-5148-B7B0-5DA2E619FCC9}"/>
              </a:ext>
            </a:extLst>
          </p:cNvPr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1000" b="1" i="0" noProof="0" dirty="0">
                <a:solidFill>
                  <a:srgbClr val="78909C"/>
                </a:solidFill>
                <a:latin typeface="Calibri"/>
              </a:rPr>
              <a:t>BUSINESS MOTIVATION &amp; DRIVERS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A81FD-A7AC-0D8F-E60B-49D4622C7711}"/>
              </a:ext>
            </a:extLst>
          </p:cNvPr>
          <p:cNvSpPr txBox="1"/>
          <p:nvPr/>
        </p:nvSpPr>
        <p:spPr>
          <a:xfrm>
            <a:off x="685800" y="594360"/>
            <a:ext cx="10820095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2800" b="1" i="0" noProof="0" dirty="0">
                <a:solidFill>
                  <a:srgbClr val="212121"/>
                </a:solidFill>
                <a:latin typeface="Georgia"/>
              </a:rPr>
              <a:t>Caso de Ejemplo: Uso del análisis de datos para encontrar recompras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DDF547-083D-EAFC-4199-398685801E8C}"/>
              </a:ext>
            </a:extLst>
          </p:cNvPr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B9C72-F96A-1298-085A-8CD80762F794}"/>
              </a:ext>
            </a:extLst>
          </p:cNvPr>
          <p:cNvSpPr txBox="1"/>
          <p:nvPr/>
        </p:nvSpPr>
        <p:spPr>
          <a:xfrm>
            <a:off x="685800" y="1645920"/>
            <a:ext cx="10820095" cy="7540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1800" b="1" i="0" noProof="0" dirty="0">
                <a:solidFill>
                  <a:srgbClr val="D35400"/>
                </a:solidFill>
                <a:latin typeface="Georgia"/>
              </a:rPr>
              <a:t>Situación</a:t>
            </a:r>
          </a:p>
          <a:p>
            <a:r>
              <a:rPr lang="es-CO" sz="1300" b="0" i="0" noProof="0" dirty="0">
                <a:solidFill>
                  <a:srgbClr val="212121"/>
                </a:solidFill>
                <a:latin typeface="Calibri"/>
              </a:rPr>
              <a:t>Una persona registra las ventas que hace en su negocio. La persona quiere saber que puede mejorar en sus productos para generar una venta cruzada o en general mantener la fidelidad de sus clientes.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9106FCC-FDBC-6457-FA90-450298A01970}"/>
              </a:ext>
            </a:extLst>
          </p:cNvPr>
          <p:cNvSpPr/>
          <p:nvPr/>
        </p:nvSpPr>
        <p:spPr>
          <a:xfrm>
            <a:off x="685800" y="3108960"/>
            <a:ext cx="3423513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000"/>
              </a:spcAft>
            </a:pPr>
            <a:r>
              <a:rPr lang="es-CO" sz="1400" b="1" i="0" noProof="0" dirty="0">
                <a:solidFill>
                  <a:srgbClr val="212121"/>
                </a:solidFill>
                <a:latin typeface="Georgia"/>
              </a:rPr>
              <a:t>Motor de inferencia</a:t>
            </a:r>
          </a:p>
          <a:p>
            <a:pPr algn="l">
              <a:spcAft>
                <a:spcPts val="1000"/>
              </a:spcAft>
            </a:pPr>
            <a:r>
              <a:rPr lang="es-CO" sz="1200" b="0" i="0" noProof="0" dirty="0">
                <a:solidFill>
                  <a:srgbClr val="212121"/>
                </a:solidFill>
                <a:latin typeface="Calibri"/>
              </a:rPr>
              <a:t>Es el encargado de generar las predicciones sobre las probabilidades de recompra.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2FB5BD5-EEAC-718B-773A-D6A461D49EE2}"/>
              </a:ext>
            </a:extLst>
          </p:cNvPr>
          <p:cNvSpPr/>
          <p:nvPr/>
        </p:nvSpPr>
        <p:spPr>
          <a:xfrm>
            <a:off x="4383633" y="3108960"/>
            <a:ext cx="3423513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000"/>
              </a:spcAft>
            </a:pPr>
            <a:r>
              <a:rPr lang="es-CO" sz="1400" b="1" i="0" noProof="0" dirty="0">
                <a:solidFill>
                  <a:srgbClr val="212121"/>
                </a:solidFill>
                <a:latin typeface="Georgia"/>
              </a:rPr>
              <a:t>Procesador de datos</a:t>
            </a:r>
          </a:p>
          <a:p>
            <a:pPr algn="l">
              <a:spcAft>
                <a:spcPts val="1000"/>
              </a:spcAft>
            </a:pPr>
            <a:r>
              <a:rPr lang="es-CO" sz="1200" b="0" i="0" noProof="0" dirty="0">
                <a:solidFill>
                  <a:srgbClr val="212121"/>
                </a:solidFill>
                <a:latin typeface="Calibri"/>
              </a:rPr>
              <a:t>Se encarga de calcular las probabilidades y variables que alimentan el motor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A278E5B-9DDB-C84A-DED8-177988180AD7}"/>
              </a:ext>
            </a:extLst>
          </p:cNvPr>
          <p:cNvSpPr/>
          <p:nvPr/>
        </p:nvSpPr>
        <p:spPr>
          <a:xfrm>
            <a:off x="8081466" y="3108960"/>
            <a:ext cx="3423513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000"/>
              </a:spcAft>
            </a:pPr>
            <a:r>
              <a:rPr lang="es-CO" sz="1400" b="1" i="0" noProof="0" dirty="0">
                <a:solidFill>
                  <a:srgbClr val="212121"/>
                </a:solidFill>
                <a:latin typeface="Georgia"/>
              </a:rPr>
              <a:t>Objetivo Analítico</a:t>
            </a:r>
            <a:endParaRPr lang="es-CO" sz="1400" b="1" dirty="0">
              <a:solidFill>
                <a:srgbClr val="212121"/>
              </a:solidFill>
              <a:latin typeface="Georgia"/>
            </a:endParaRPr>
          </a:p>
          <a:p>
            <a:pPr algn="l">
              <a:spcAft>
                <a:spcPts val="1000"/>
              </a:spcAft>
            </a:pPr>
            <a:r>
              <a:rPr lang="es-CO" sz="1200" b="0" i="0" noProof="0" dirty="0">
                <a:solidFill>
                  <a:srgbClr val="212121"/>
                </a:solidFill>
                <a:latin typeface="Calibri"/>
              </a:rPr>
              <a:t>Sacar una estimación de la posibilidad de un cliente de volver a comprar en el negocio.</a:t>
            </a:r>
          </a:p>
        </p:txBody>
      </p:sp>
    </p:spTree>
    <p:extLst>
      <p:ext uri="{BB962C8B-B14F-4D97-AF65-F5344CB8AC3E}">
        <p14:creationId xmlns:p14="http://schemas.microsoft.com/office/powerpoint/2010/main" val="2993108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45A4F-CBAF-C430-D250-AB0FC346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80346A-3FA6-D32D-7004-8CC998F38607}"/>
              </a:ext>
            </a:extLst>
          </p:cNvPr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1000" b="1" i="0" noProof="0" dirty="0">
                <a:solidFill>
                  <a:srgbClr val="78909C"/>
                </a:solidFill>
                <a:latin typeface="Calibri"/>
              </a:rPr>
              <a:t>BUSINESS MOTIVATION &amp; DRIVERS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B3563A-3527-1BA0-9640-63A4B23B78B3}"/>
              </a:ext>
            </a:extLst>
          </p:cNvPr>
          <p:cNvSpPr txBox="1"/>
          <p:nvPr/>
        </p:nvSpPr>
        <p:spPr>
          <a:xfrm>
            <a:off x="685799" y="783256"/>
            <a:ext cx="1082009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2800" b="1" i="0" noProof="0" dirty="0">
                <a:solidFill>
                  <a:srgbClr val="212121"/>
                </a:solidFill>
                <a:latin typeface="Georgia"/>
              </a:rPr>
              <a:t>Caso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442E82-D3F7-E618-0706-477D13C9ECBB}"/>
              </a:ext>
            </a:extLst>
          </p:cNvPr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4FEE2F-9CA1-048C-1103-215604EA9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600" y="1970969"/>
            <a:ext cx="3720492" cy="291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75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E9CCA-ADA2-9B17-D60C-6EF1B59C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4D4F68-0874-5464-AA5E-5314217A2831}"/>
              </a:ext>
            </a:extLst>
          </p:cNvPr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1000" b="1" i="0" noProof="0" dirty="0">
                <a:solidFill>
                  <a:srgbClr val="78909C"/>
                </a:solidFill>
                <a:latin typeface="Calibri"/>
              </a:rPr>
              <a:t>BUSINESS MOTIVATION &amp; DRIVERS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B486D-D072-C3EE-9734-63237880F117}"/>
              </a:ext>
            </a:extLst>
          </p:cNvPr>
          <p:cNvSpPr txBox="1"/>
          <p:nvPr/>
        </p:nvSpPr>
        <p:spPr>
          <a:xfrm>
            <a:off x="685799" y="783256"/>
            <a:ext cx="1082009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2800" b="1" i="0" noProof="0" dirty="0">
                <a:solidFill>
                  <a:srgbClr val="212121"/>
                </a:solidFill>
                <a:latin typeface="Georgia"/>
              </a:rPr>
              <a:t>Caso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5838A4-1659-93F7-843F-C5B7E5FC2BC9}"/>
              </a:ext>
            </a:extLst>
          </p:cNvPr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678960-26D9-0BCD-DD15-C5DE71843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38" y="1723423"/>
            <a:ext cx="5305419" cy="2661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18E88-DCAD-71DA-C386-F7DE110FE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173" y="1723423"/>
            <a:ext cx="5357324" cy="4473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FAC834-4C54-51EF-FF67-D5DB07F86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638" y="4537806"/>
            <a:ext cx="4109367" cy="198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85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31F1A-5249-B1AE-E59D-600AD003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84ED48-5DF2-51EE-12E3-91ACE9EB02DF}"/>
              </a:ext>
            </a:extLst>
          </p:cNvPr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1000" b="1" i="0" noProof="0" dirty="0">
                <a:solidFill>
                  <a:srgbClr val="78909C"/>
                </a:solidFill>
                <a:latin typeface="Calibri"/>
              </a:rPr>
              <a:t>BUSINESS MOTIVATION &amp; DRIVERS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67AB62-4901-2E26-AD8C-979942FF0686}"/>
              </a:ext>
            </a:extLst>
          </p:cNvPr>
          <p:cNvSpPr txBox="1"/>
          <p:nvPr/>
        </p:nvSpPr>
        <p:spPr>
          <a:xfrm>
            <a:off x="685799" y="783256"/>
            <a:ext cx="1082009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2800" b="1" i="0" noProof="0" dirty="0">
                <a:solidFill>
                  <a:srgbClr val="212121"/>
                </a:solidFill>
                <a:latin typeface="Georgia"/>
              </a:rPr>
              <a:t>Caso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B9D8A2-7242-6992-C81A-FEFD51F65998}"/>
              </a:ext>
            </a:extLst>
          </p:cNvPr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848CAB-836C-9E80-967E-9DA0CA337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38" y="1723423"/>
            <a:ext cx="5305419" cy="2661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DC03C8-ADC1-1CA3-C845-7DF45BC01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173" y="1723423"/>
            <a:ext cx="5357324" cy="4473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4ABADF-3C25-0AA0-5FC8-3205E9622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638" y="4537806"/>
            <a:ext cx="4109367" cy="198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80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1000" b="1" i="0" noProof="0" dirty="0">
                <a:solidFill>
                  <a:srgbClr val="78909C"/>
                </a:solidFill>
                <a:latin typeface="Calibri"/>
              </a:rPr>
              <a:t>BUSINESS MOTIVATION &amp;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799" y="783256"/>
            <a:ext cx="1082009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2800" b="1" i="0" noProof="0" dirty="0">
                <a:solidFill>
                  <a:srgbClr val="212121"/>
                </a:solidFill>
                <a:latin typeface="Georgia"/>
              </a:rPr>
              <a:t>Repositorio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11" name="Graphic 10" descr="Web design with solid fill">
            <a:hlinkClick r:id="rId3"/>
            <a:extLst>
              <a:ext uri="{FF2B5EF4-FFF2-40B4-BE49-F238E27FC236}">
                <a16:creationId xmlns:a16="http://schemas.microsoft.com/office/drawing/2014/main" id="{7D854AE9-3E76-509D-1905-B55AEB279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8720" y="1721874"/>
            <a:ext cx="3414252" cy="34142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1000" b="1" i="0" noProof="0" dirty="0">
                <a:solidFill>
                  <a:srgbClr val="78909C"/>
                </a:solidFill>
                <a:latin typeface="Calibri"/>
              </a:rPr>
              <a:t>BUSINESS MOTIVATION &amp;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2800" b="1" i="0" noProof="0" dirty="0">
                <a:solidFill>
                  <a:srgbClr val="212121"/>
                </a:solidFill>
                <a:latin typeface="Georgia"/>
              </a:rPr>
              <a:t>Conclusiones y referencias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32470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lang="es-CO" sz="2000" b="1" i="0" noProof="0" dirty="0">
                <a:solidFill>
                  <a:srgbClr val="D35400"/>
                </a:solidFill>
                <a:latin typeface="Georgia"/>
              </a:rPr>
              <a:t>Conclusiones</a:t>
            </a:r>
          </a:p>
          <a:p>
            <a:pPr algn="just">
              <a:spcAft>
                <a:spcPts val="1000"/>
              </a:spcAft>
            </a:pPr>
            <a:r>
              <a:rPr lang="es-CO" sz="1300" b="0" i="0" noProof="0" dirty="0">
                <a:solidFill>
                  <a:srgbClr val="212121"/>
                </a:solidFill>
                <a:latin typeface="Calibri"/>
              </a:rPr>
              <a:t>• El éxito de las tecnologías de Big Data no se centra en recolectar más datos, sino en alinearlos estratégicamente con los motivadores y factores impulsores del negocio.</a:t>
            </a:r>
          </a:p>
          <a:p>
            <a:pPr algn="just">
              <a:spcAft>
                <a:spcPts val="1000"/>
              </a:spcAft>
            </a:pPr>
            <a:r>
              <a:rPr lang="es-CO" sz="1300" b="0" i="0" noProof="0" dirty="0">
                <a:solidFill>
                  <a:srgbClr val="212121"/>
                </a:solidFill>
                <a:latin typeface="Calibri"/>
              </a:rPr>
              <a:t>• La metodología CRISP-DM reduce el riesgo de fracaso en la ciencia de datos al estructurar fases secuenciales que aseguran el retorno de inversión.</a:t>
            </a:r>
          </a:p>
          <a:p>
            <a:pPr algn="just">
              <a:spcAft>
                <a:spcPts val="1000"/>
              </a:spcAft>
            </a:pPr>
            <a:r>
              <a:rPr lang="es-CO" sz="1300" b="0" i="0" noProof="0" dirty="0">
                <a:solidFill>
                  <a:srgbClr val="212121"/>
                </a:solidFill>
                <a:latin typeface="Calibri"/>
              </a:rPr>
              <a:t>• La Pirámide de Ackoff demuestra que la agilidad organizacional para responder a los cambios del mercado depende enteramente de la correcta transferencia de conocimiento.</a:t>
            </a:r>
          </a:p>
          <a:p>
            <a:pPr algn="just">
              <a:spcAft>
                <a:spcPts val="1000"/>
              </a:spcAft>
            </a:pPr>
            <a:r>
              <a:rPr lang="es-CO" sz="1300" dirty="0">
                <a:solidFill>
                  <a:srgbClr val="212121"/>
                </a:solidFill>
              </a:rPr>
              <a:t>•  Los datos son esenciales para tomar decisiones informadas que permitan a un negocio explotar sus capacidades laborales y desarrollar proyectos robustos de alto valor</a:t>
            </a:r>
            <a:endParaRPr lang="es-CO" sz="1300" b="0" i="0" noProof="0" dirty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287975" cy="2949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lang="es-CO" sz="2000" b="1" i="0" noProof="0" dirty="0">
                <a:solidFill>
                  <a:srgbClr val="212121"/>
                </a:solidFill>
                <a:latin typeface="Georgia"/>
              </a:rPr>
              <a:t>Referencias Bibliográficas</a:t>
            </a:r>
          </a:p>
          <a:p>
            <a:pPr>
              <a:spcAft>
                <a:spcPts val="1000"/>
              </a:spcAft>
            </a:pPr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Corredor Franco, John. (2026). 'Conceptos Big Data Metodología Crisp DM'. Departamento de Ingeniería de Sistemas, Pontificia Universidad Javeriana, Bogotá.</a:t>
            </a:r>
          </a:p>
          <a:p>
            <a:pPr>
              <a:spcAft>
                <a:spcPts val="1000"/>
              </a:spcAft>
            </a:pPr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Corredor Franco, John. (2026). 'Procesamiento de Datos a Gran Escala: Motivadores, factores y planeación para la adopción de </a:t>
            </a:r>
            <a:r>
              <a:rPr lang="es-CO" sz="1200" b="0" i="0" noProof="0" dirty="0" err="1">
                <a:solidFill>
                  <a:srgbClr val="757575"/>
                </a:solidFill>
                <a:latin typeface="Calibri"/>
              </a:rPr>
              <a:t>big</a:t>
            </a:r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 data'. Pontificia Universidad Javeriana.</a:t>
            </a:r>
          </a:p>
          <a:p>
            <a:pPr>
              <a:spcAft>
                <a:spcPts val="1000"/>
              </a:spcAft>
            </a:pPr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Thomas Erl, Wajid Khattak, Paul Buhler. (2016). 'Big Data Fundamentals: </a:t>
            </a:r>
            <a:r>
              <a:rPr lang="es-CO" sz="1200" b="0" i="0" noProof="0" dirty="0" err="1">
                <a:solidFill>
                  <a:srgbClr val="757575"/>
                </a:solidFill>
                <a:latin typeface="Calibri"/>
              </a:rPr>
              <a:t>Concepts</a:t>
            </a:r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, Drivers &amp; </a:t>
            </a:r>
            <a:r>
              <a:rPr lang="es-CO" sz="1200" b="0" i="0" noProof="0" dirty="0" err="1">
                <a:solidFill>
                  <a:srgbClr val="757575"/>
                </a:solidFill>
                <a:latin typeface="Calibri"/>
              </a:rPr>
              <a:t>Techniques</a:t>
            </a:r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'. </a:t>
            </a:r>
            <a:r>
              <a:rPr lang="es-CO" sz="1200" b="0" i="0" noProof="0" dirty="0" err="1">
                <a:solidFill>
                  <a:srgbClr val="757575"/>
                </a:solidFill>
                <a:latin typeface="Calibri"/>
              </a:rPr>
              <a:t>Arcitura</a:t>
            </a:r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 </a:t>
            </a:r>
            <a:r>
              <a:rPr lang="es-CO" sz="1200" b="0" i="0" noProof="0" dirty="0" err="1">
                <a:solidFill>
                  <a:srgbClr val="757575"/>
                </a:solidFill>
                <a:latin typeface="Calibri"/>
              </a:rPr>
              <a:t>Education</a:t>
            </a:r>
            <a:r>
              <a:rPr lang="es-CO" sz="1200" b="0" i="0" noProof="0" dirty="0">
                <a:solidFill>
                  <a:srgbClr val="757575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sz="1200" b="0" i="0" noProof="0" dirty="0">
                <a:solidFill>
                  <a:srgbClr val="757575"/>
                </a:solidFill>
                <a:latin typeface="Calibri"/>
              </a:rPr>
              <a:t>Framework, B. D. (2024, 3 </a:t>
            </a:r>
            <a:r>
              <a:rPr lang="en-US" sz="1200" b="0" i="0" noProof="0" dirty="0" err="1">
                <a:solidFill>
                  <a:srgbClr val="757575"/>
                </a:solidFill>
                <a:latin typeface="Calibri"/>
              </a:rPr>
              <a:t>julio</a:t>
            </a:r>
            <a:r>
              <a:rPr lang="en-US" sz="1200" b="0" i="0" noProof="0" dirty="0">
                <a:solidFill>
                  <a:srgbClr val="757575"/>
                </a:solidFill>
                <a:latin typeface="Calibri"/>
              </a:rPr>
              <a:t>). Business Drivers for Big Data. Enterprise Big Data Framework. https://www.bigdataframework.org/business-drivers-for-big-data/</a:t>
            </a:r>
            <a:endParaRPr lang="es-CO" sz="1200" b="0" i="0" noProof="0" dirty="0">
              <a:solidFill>
                <a:srgbClr val="757575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endParaRPr lang="es-CO" sz="1200" b="0" i="0" noProof="0" dirty="0">
              <a:solidFill>
                <a:srgbClr val="757575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endParaRPr lang="es-CO" sz="1200" b="0" i="0" noProof="0" dirty="0">
              <a:solidFill>
                <a:srgbClr val="75757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1000" b="1" i="0" noProof="0" dirty="0">
                <a:solidFill>
                  <a:srgbClr val="78909C"/>
                </a:solidFill>
                <a:latin typeface="Calibri"/>
              </a:rPr>
              <a:t>EVALUACIÓN RÁPIDA (MAX. 4 MINUTOS)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O" sz="2800" b="1" i="0" noProof="0" dirty="0">
                <a:solidFill>
                  <a:srgbClr val="212121"/>
                </a:solidFill>
                <a:latin typeface="Georgia"/>
              </a:rPr>
              <a:t>Evaluación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D3542F-3EE8-B992-890C-A3C378D72788}"/>
              </a:ext>
            </a:extLst>
          </p:cNvPr>
          <p:cNvSpPr txBox="1"/>
          <p:nvPr/>
        </p:nvSpPr>
        <p:spPr>
          <a:xfrm>
            <a:off x="3048828" y="2967335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https://play.kahoot.it/v2/?quizId=45baab9f-2777-4717-bd60-2c75a7594e52&amp;hostId=73a264a3-42bd-40b0-995b-a2bd92027788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730</Words>
  <Application>Microsoft Office PowerPoint</Application>
  <PresentationFormat>Widescreen</PresentationFormat>
  <Paragraphs>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Gabriel Jaramillo Cuberos</dc:creator>
  <cp:keywords/>
  <dc:description>generated using python-pptx</dc:description>
  <cp:lastModifiedBy>Gabriel Jaramillo Cuberos</cp:lastModifiedBy>
  <cp:revision>10</cp:revision>
  <dcterms:created xsi:type="dcterms:W3CDTF">2013-01-27T09:14:16Z</dcterms:created>
  <dcterms:modified xsi:type="dcterms:W3CDTF">2026-08-20T12:40:07Z</dcterms:modified>
  <cp:category/>
</cp:coreProperties>
</file>